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172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172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172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172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0" t="0" r="r" b="b"/>
            <a:pathLst>
              <a:path w="33866" h="19051">
                <a:moveTo>
                  <a:pt x="0" y="0"/>
                </a:moveTo>
                <a:lnTo>
                  <a:pt x="33866" y="0"/>
                </a:lnTo>
                <a:lnTo>
                  <a:pt x="33866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1876680" y="2557080"/>
            <a:ext cx="5398560" cy="68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Helios Energy – Series B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720440" y="3951360"/>
            <a:ext cx="57902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8b8b8b"/>
                </a:solidFill>
                <a:latin typeface="Calibri"/>
                <a:ea typeface="Calibri"/>
              </a:rPr>
              <a:t>Investor update · Lena Okafor, CEO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0" t="0" r="r" b="b"/>
            <a:pathLst>
              <a:path w="33866" h="19051">
                <a:moveTo>
                  <a:pt x="0" y="0"/>
                </a:moveTo>
                <a:lnTo>
                  <a:pt x="33866" y="0"/>
                </a:lnTo>
                <a:lnTo>
                  <a:pt x="33866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369600" y="537480"/>
            <a:ext cx="2419200" cy="68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Why now?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48640" y="1663200"/>
            <a:ext cx="4060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•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91720" y="1665360"/>
            <a:ext cx="6973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Capacity region roadmap customer install 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91720" y="2153160"/>
            <a:ext cx="56898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efficiency market region roadmap.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48640" y="2720160"/>
            <a:ext cx="4060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•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91720" y="2722320"/>
            <a:ext cx="737388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Pilot roadmap market team market forecast 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91720" y="3210120"/>
            <a:ext cx="32515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region deployment.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005840" y="3764160"/>
            <a:ext cx="3553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–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291680" y="3766680"/>
            <a:ext cx="692568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Efficiency market budget quarterly pilot growth 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291680" y="4193640"/>
            <a:ext cx="240408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project contract.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8640" y="4702320"/>
            <a:ext cx="4060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•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891720" y="4704480"/>
            <a:ext cx="679608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Contract team efficiency forecast energy 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91720" y="5192280"/>
            <a:ext cx="39038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efficiency growth team.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05840" y="5746320"/>
            <a:ext cx="3553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–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91680" y="5748840"/>
            <a:ext cx="679932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Forecast pilot customer install market forecast 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291680" y="6175800"/>
            <a:ext cx="179460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region solar.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0" t="0" r="r" b="b"/>
            <a:pathLst>
              <a:path w="33866" h="19051">
                <a:moveTo>
                  <a:pt x="0" y="0"/>
                </a:moveTo>
                <a:lnTo>
                  <a:pt x="33866" y="0"/>
                </a:lnTo>
                <a:lnTo>
                  <a:pt x="33866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1301760" y="575532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H="1">
            <a:off x="1301760" y="517536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1301760" y="459576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1301760" y="401580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H="1">
            <a:off x="1301760" y="343620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1301760" y="285624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1301760" y="227628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H="1">
            <a:off x="1301760" y="169632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 flipV="1">
            <a:off x="1301760" y="5755320"/>
            <a:ext cx="0" cy="54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 flipV="1">
            <a:off x="2839680" y="5755320"/>
            <a:ext cx="0" cy="54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4376520" y="5755320"/>
            <a:ext cx="0" cy="54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5914440" y="5755320"/>
            <a:ext cx="0" cy="54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7452000" y="5755320"/>
            <a:ext cx="0" cy="54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301760" y="5755320"/>
            <a:ext cx="615024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247760" y="575532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247760" y="517536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247760" y="459576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247760" y="401580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247760" y="343620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247760" y="285624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247760" y="227628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247760" y="1696320"/>
            <a:ext cx="54000" cy="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1301760" y="1696320"/>
            <a:ext cx="0" cy="4059000"/>
          </a:xfrm>
          <a:prstGeom prst="line">
            <a:avLst/>
          </a:prstGeom>
          <a:ln w="9000">
            <a:solidFill>
              <a:srgbClr val="8787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631160" y="4102200"/>
            <a:ext cx="439920" cy="1653480"/>
          </a:xfrm>
          <a:custGeom>
            <a:avLst/>
            <a:gdLst/>
            <a:ahLst/>
            <a:rect l="0" t="0" r="r" b="b"/>
            <a:pathLst>
              <a:path w="1222" h="4593">
                <a:moveTo>
                  <a:pt x="0" y="4593"/>
                </a:moveTo>
                <a:lnTo>
                  <a:pt x="1222" y="4593"/>
                </a:lnTo>
                <a:lnTo>
                  <a:pt x="1222" y="0"/>
                </a:lnTo>
                <a:lnTo>
                  <a:pt x="0" y="0"/>
                </a:lnTo>
                <a:lnTo>
                  <a:pt x="0" y="4593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3169080" y="4392360"/>
            <a:ext cx="439560" cy="1363320"/>
          </a:xfrm>
          <a:custGeom>
            <a:avLst/>
            <a:gdLst/>
            <a:ahLst/>
            <a:rect l="0" t="0" r="r" b="b"/>
            <a:pathLst>
              <a:path w="1221" h="3787">
                <a:moveTo>
                  <a:pt x="0" y="3787"/>
                </a:moveTo>
                <a:lnTo>
                  <a:pt x="1221" y="3787"/>
                </a:lnTo>
                <a:lnTo>
                  <a:pt x="1221" y="0"/>
                </a:lnTo>
                <a:lnTo>
                  <a:pt x="0" y="0"/>
                </a:lnTo>
                <a:lnTo>
                  <a:pt x="0" y="3787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705920" y="5436360"/>
            <a:ext cx="439920" cy="319320"/>
          </a:xfrm>
          <a:custGeom>
            <a:avLst/>
            <a:gdLst/>
            <a:ahLst/>
            <a:rect l="0" t="0" r="r" b="b"/>
            <a:pathLst>
              <a:path w="1222" h="887">
                <a:moveTo>
                  <a:pt x="0" y="887"/>
                </a:moveTo>
                <a:lnTo>
                  <a:pt x="1222" y="887"/>
                </a:lnTo>
                <a:lnTo>
                  <a:pt x="1222" y="0"/>
                </a:lnTo>
                <a:lnTo>
                  <a:pt x="0" y="0"/>
                </a:lnTo>
                <a:lnTo>
                  <a:pt x="0" y="887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243840" y="4827600"/>
            <a:ext cx="439560" cy="928080"/>
          </a:xfrm>
          <a:custGeom>
            <a:avLst/>
            <a:gdLst/>
            <a:ahLst/>
            <a:rect l="0" t="0" r="r" b="b"/>
            <a:pathLst>
              <a:path w="1221" h="2578">
                <a:moveTo>
                  <a:pt x="0" y="2578"/>
                </a:moveTo>
                <a:lnTo>
                  <a:pt x="1221" y="2578"/>
                </a:lnTo>
                <a:lnTo>
                  <a:pt x="1221" y="0"/>
                </a:lnTo>
                <a:lnTo>
                  <a:pt x="0" y="0"/>
                </a:lnTo>
                <a:lnTo>
                  <a:pt x="0" y="2578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070720" y="2362680"/>
            <a:ext cx="439200" cy="3393000"/>
          </a:xfrm>
          <a:custGeom>
            <a:avLst/>
            <a:gdLst/>
            <a:ahLst/>
            <a:rect l="0" t="0" r="r" b="b"/>
            <a:pathLst>
              <a:path w="1220" h="9425">
                <a:moveTo>
                  <a:pt x="0" y="9425"/>
                </a:moveTo>
                <a:lnTo>
                  <a:pt x="1220" y="9425"/>
                </a:lnTo>
                <a:lnTo>
                  <a:pt x="1220" y="0"/>
                </a:lnTo>
                <a:lnTo>
                  <a:pt x="0" y="0"/>
                </a:lnTo>
                <a:lnTo>
                  <a:pt x="0" y="9425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608280" y="2681640"/>
            <a:ext cx="439200" cy="3074040"/>
          </a:xfrm>
          <a:custGeom>
            <a:avLst/>
            <a:gdLst/>
            <a:ahLst/>
            <a:rect l="0" t="0" r="r" b="b"/>
            <a:pathLst>
              <a:path w="1220" h="8539">
                <a:moveTo>
                  <a:pt x="0" y="8539"/>
                </a:moveTo>
                <a:lnTo>
                  <a:pt x="1220" y="8539"/>
                </a:lnTo>
                <a:lnTo>
                  <a:pt x="1220" y="0"/>
                </a:lnTo>
                <a:lnTo>
                  <a:pt x="0" y="0"/>
                </a:lnTo>
                <a:lnTo>
                  <a:pt x="0" y="8539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145480" y="3986640"/>
            <a:ext cx="439560" cy="1769040"/>
          </a:xfrm>
          <a:custGeom>
            <a:avLst/>
            <a:gdLst/>
            <a:ahLst/>
            <a:rect l="0" t="0" r="r" b="b"/>
            <a:pathLst>
              <a:path w="1221" h="4914">
                <a:moveTo>
                  <a:pt x="0" y="4914"/>
                </a:moveTo>
                <a:lnTo>
                  <a:pt x="1221" y="4914"/>
                </a:lnTo>
                <a:lnTo>
                  <a:pt x="1221" y="0"/>
                </a:lnTo>
                <a:lnTo>
                  <a:pt x="0" y="0"/>
                </a:lnTo>
                <a:lnTo>
                  <a:pt x="0" y="4914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683040" y="2652840"/>
            <a:ext cx="439200" cy="3102840"/>
          </a:xfrm>
          <a:custGeom>
            <a:avLst/>
            <a:gdLst/>
            <a:ahLst/>
            <a:rect l="0" t="0" r="r" b="b"/>
            <a:pathLst>
              <a:path w="1220" h="8619">
                <a:moveTo>
                  <a:pt x="0" y="8619"/>
                </a:moveTo>
                <a:lnTo>
                  <a:pt x="1220" y="8619"/>
                </a:lnTo>
                <a:lnTo>
                  <a:pt x="1220" y="0"/>
                </a:lnTo>
                <a:lnTo>
                  <a:pt x="0" y="0"/>
                </a:lnTo>
                <a:lnTo>
                  <a:pt x="0" y="8619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659040" y="537480"/>
            <a:ext cx="1872360" cy="68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Traction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937160" y="5847120"/>
            <a:ext cx="26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Q1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474720" y="5847120"/>
            <a:ext cx="26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Q2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011920" y="5847120"/>
            <a:ext cx="26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Q3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549480" y="5847120"/>
            <a:ext cx="26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Q4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097640" y="5618880"/>
            <a:ext cx="228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83520" y="503892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20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83520" y="445932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40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83520" y="387936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60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83520" y="3299400"/>
            <a:ext cx="2322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80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69040" y="2719440"/>
            <a:ext cx="348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100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69040" y="2139480"/>
            <a:ext cx="348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120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8001720" y="1989360"/>
            <a:ext cx="3563640" cy="228348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/>
          <p:nvPr/>
        </p:nvSpPr>
        <p:spPr>
          <a:xfrm>
            <a:off x="8046360" y="2011320"/>
            <a:ext cx="3475080" cy="2195280"/>
          </a:xfrm>
          <a:custGeom>
            <a:avLst/>
            <a:gdLst/>
            <a:ahLst/>
            <a:rect l="0" t="0" r="r" b="b"/>
            <a:pathLst>
              <a:path w="9653" h="6098">
                <a:moveTo>
                  <a:pt x="0" y="1016"/>
                </a:moveTo>
                <a:cubicBezTo>
                  <a:pt x="0" y="838"/>
                  <a:pt x="47" y="661"/>
                  <a:pt x="136" y="508"/>
                </a:cubicBezTo>
                <a:cubicBezTo>
                  <a:pt x="225" y="353"/>
                  <a:pt x="353" y="225"/>
                  <a:pt x="508" y="136"/>
                </a:cubicBezTo>
                <a:cubicBezTo>
                  <a:pt x="661" y="47"/>
                  <a:pt x="838" y="0"/>
                  <a:pt x="1016" y="0"/>
                </a:cubicBezTo>
                <a:lnTo>
                  <a:pt x="8635" y="0"/>
                </a:lnTo>
                <a:cubicBezTo>
                  <a:pt x="8814" y="0"/>
                  <a:pt x="8990" y="47"/>
                  <a:pt x="9143" y="136"/>
                </a:cubicBezTo>
                <a:cubicBezTo>
                  <a:pt x="9298" y="225"/>
                  <a:pt x="9426" y="353"/>
                  <a:pt x="9515" y="508"/>
                </a:cubicBezTo>
                <a:cubicBezTo>
                  <a:pt x="9604" y="661"/>
                  <a:pt x="9651" y="838"/>
                  <a:pt x="9651" y="1016"/>
                </a:cubicBezTo>
                <a:lnTo>
                  <a:pt x="9653" y="5079"/>
                </a:lnTo>
                <a:cubicBezTo>
                  <a:pt x="9653" y="5259"/>
                  <a:pt x="9605" y="5435"/>
                  <a:pt x="9517" y="5588"/>
                </a:cubicBezTo>
                <a:cubicBezTo>
                  <a:pt x="9428" y="5743"/>
                  <a:pt x="9298" y="5871"/>
                  <a:pt x="9145" y="5960"/>
                </a:cubicBezTo>
                <a:cubicBezTo>
                  <a:pt x="8990" y="6049"/>
                  <a:pt x="8814" y="6096"/>
                  <a:pt x="8637" y="6096"/>
                </a:cubicBezTo>
                <a:lnTo>
                  <a:pt x="1016" y="6098"/>
                </a:lnTo>
                <a:cubicBezTo>
                  <a:pt x="838" y="6098"/>
                  <a:pt x="661" y="6050"/>
                  <a:pt x="508" y="5962"/>
                </a:cubicBezTo>
                <a:cubicBezTo>
                  <a:pt x="353" y="5873"/>
                  <a:pt x="225" y="5743"/>
                  <a:pt x="136" y="5590"/>
                </a:cubicBezTo>
                <a:cubicBezTo>
                  <a:pt x="47" y="5435"/>
                  <a:pt x="0" y="5259"/>
                  <a:pt x="0" y="5082"/>
                </a:cubicBezTo>
                <a:lnTo>
                  <a:pt x="0" y="1016"/>
                </a:lnTo>
                <a:close/>
              </a:path>
            </a:pathLst>
          </a:custGeom>
          <a:solidFill>
            <a:srgbClr val="e5322d"/>
          </a:solidFill>
          <a:ln w="9000">
            <a:solidFill>
              <a:srgbClr val="4a7ebb"/>
            </a:solidFill>
            <a:round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69040" y="1559520"/>
            <a:ext cx="348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140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243280" y="2828160"/>
            <a:ext cx="230976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+151% YoY</a:t>
            </a:r>
            <a:endParaRPr b="0" lang="en-US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0" t="0" r="r" b="b"/>
            <a:pathLst>
              <a:path w="33866" h="19051">
                <a:moveTo>
                  <a:pt x="0" y="0"/>
                </a:moveTo>
                <a:lnTo>
                  <a:pt x="33866" y="0"/>
                </a:lnTo>
                <a:lnTo>
                  <a:pt x="33866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731520" y="155448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964680" y="537480"/>
            <a:ext cx="1265760" cy="68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Team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236120" y="155448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22960" y="1600200"/>
            <a:ext cx="554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Name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741080" y="155448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327920" y="1600200"/>
            <a:ext cx="410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Role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31520" y="219456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832880" y="1600200"/>
            <a:ext cx="9532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Previously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236120" y="219456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22960" y="2240280"/>
            <a:ext cx="1200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Hiro Schmidt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7741080" y="219456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327920" y="2240280"/>
            <a:ext cx="4244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COO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31520" y="283464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832880" y="2240280"/>
            <a:ext cx="1483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Startup founder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236120" y="283464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22960" y="2880360"/>
            <a:ext cx="1213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Noah Tanaka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741080" y="283464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327920" y="2880360"/>
            <a:ext cx="4244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COO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31520" y="347472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832880" y="2880360"/>
            <a:ext cx="784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Enphase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4236120" y="347472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22960" y="3520440"/>
            <a:ext cx="1215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Chloé Okafor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7741080" y="3474720"/>
            <a:ext cx="3505320" cy="640440"/>
          </a:xfrm>
          <a:custGeom>
            <a:avLst/>
            <a:gdLst/>
            <a:ahLst/>
            <a:rect l="0" t="0" r="r" b="b"/>
            <a:pathLst>
              <a:path w="9737" h="1779">
                <a:moveTo>
                  <a:pt x="0" y="0"/>
                </a:moveTo>
                <a:lnTo>
                  <a:pt x="9737" y="0"/>
                </a:lnTo>
                <a:lnTo>
                  <a:pt x="9737" y="1779"/>
                </a:lnTo>
                <a:lnTo>
                  <a:pt x="0" y="1779"/>
                </a:lnTo>
                <a:lnTo>
                  <a:pt x="0" y="0"/>
                </a:lnTo>
                <a:close/>
              </a:path>
            </a:pathLst>
          </a:custGeom>
          <a:solidFill>
            <a:srgbClr val="d0d8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327920" y="3520440"/>
            <a:ext cx="384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CTO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31520" y="411480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832880" y="3520440"/>
            <a:ext cx="7840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Enphase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4236120" y="411480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22960" y="4160520"/>
            <a:ext cx="1212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Chloé Martin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741080" y="4114800"/>
            <a:ext cx="3505320" cy="640800"/>
          </a:xfrm>
          <a:custGeom>
            <a:avLst/>
            <a:gdLst/>
            <a:ahLst/>
            <a:rect l="0" t="0" r="r" b="b"/>
            <a:pathLst>
              <a:path w="9737" h="1780">
                <a:moveTo>
                  <a:pt x="0" y="0"/>
                </a:moveTo>
                <a:lnTo>
                  <a:pt x="9737" y="0"/>
                </a:lnTo>
                <a:lnTo>
                  <a:pt x="9737" y="1780"/>
                </a:lnTo>
                <a:lnTo>
                  <a:pt x="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e9ecf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327920" y="4160520"/>
            <a:ext cx="4244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COO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26120" y="155448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31520" y="1549080"/>
            <a:ext cx="0" cy="321084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236120" y="1549080"/>
            <a:ext cx="0" cy="321084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741080" y="1549080"/>
            <a:ext cx="0" cy="321084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1246040" y="1549080"/>
            <a:ext cx="0" cy="321084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26120" y="219456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26120" y="283464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26120" y="347472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26120" y="411480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26120" y="4754880"/>
            <a:ext cx="10525680" cy="0"/>
          </a:xfrm>
          <a:prstGeom prst="line">
            <a:avLst/>
          </a:prstGeom>
          <a:ln w="10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832880" y="4160520"/>
            <a:ext cx="357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EDF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0" t="0" r="r" b="b"/>
            <a:pathLst>
              <a:path w="33866" h="19051">
                <a:moveTo>
                  <a:pt x="0" y="0"/>
                </a:moveTo>
                <a:lnTo>
                  <a:pt x="33866" y="0"/>
                </a:lnTo>
                <a:lnTo>
                  <a:pt x="33866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371600" y="731160"/>
            <a:ext cx="9143280" cy="426636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 txBox="1"/>
          <p:nvPr/>
        </p:nvSpPr>
        <p:spPr>
          <a:xfrm>
            <a:off x="4250160" y="5730840"/>
            <a:ext cx="3393000" cy="43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Thank you – questions?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