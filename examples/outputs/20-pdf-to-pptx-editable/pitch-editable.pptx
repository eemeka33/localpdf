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172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172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172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172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1760" cy="6858000"/>
          </a:xfrm>
          <a:custGeom>
            <a:avLst/>
            <a:gdLst/>
            <a:ahLst/>
            <a:rect l="0" t="0" r="r" b="b"/>
            <a:pathLst>
              <a:path w="33866" h="19050">
                <a:moveTo>
                  <a:pt x="0" y="0"/>
                </a:moveTo>
                <a:lnTo>
                  <a:pt x="33866" y="0"/>
                </a:lnTo>
                <a:lnTo>
                  <a:pt x="33866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1760" cy="6858360"/>
          </a:xfrm>
          <a:custGeom>
            <a:avLst/>
            <a:gdLst/>
            <a:ahLst/>
            <a:rect l="0" t="0" r="r" b="b"/>
            <a:pathLst>
              <a:path w="33866" h="19051">
                <a:moveTo>
                  <a:pt x="0" y="0"/>
                </a:moveTo>
                <a:lnTo>
                  <a:pt x="33866" y="0"/>
                </a:lnTo>
                <a:lnTo>
                  <a:pt x="33866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 txBox="1"/>
          <p:nvPr/>
        </p:nvSpPr>
        <p:spPr>
          <a:xfrm>
            <a:off x="1876680" y="2557080"/>
            <a:ext cx="5398560" cy="68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4400" spc="-1" strike="noStrike">
                <a:solidFill>
                  <a:srgbClr val="000000"/>
                </a:solidFill>
                <a:latin typeface="Calibri"/>
                <a:ea typeface="Calibri"/>
              </a:rPr>
              <a:t>Helios Energy – Series B</a:t>
            </a:r>
            <a:endParaRPr b="0" lang="en-US" sz="4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1720440" y="3951360"/>
            <a:ext cx="5790240" cy="497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Calibri"/>
              </a:rPr>
              <a:t>Investor update · Lena Okafor, CEO</a:t>
            </a:r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/>
          <p:nvPr/>
        </p:nvSpPr>
        <p:spPr>
          <a:xfrm>
            <a:off x="0" y="0"/>
            <a:ext cx="12191760" cy="6858000"/>
          </a:xfrm>
          <a:custGeom>
            <a:avLst/>
            <a:gdLst/>
            <a:ahLst/>
            <a:rect l="0" t="0" r="r" b="b"/>
            <a:pathLst>
              <a:path w="33866" h="19050">
                <a:moveTo>
                  <a:pt x="0" y="0"/>
                </a:moveTo>
                <a:lnTo>
                  <a:pt x="33866" y="0"/>
                </a:lnTo>
                <a:lnTo>
                  <a:pt x="33866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/>
          <p:nvPr/>
        </p:nvSpPr>
        <p:spPr>
          <a:xfrm>
            <a:off x="0" y="0"/>
            <a:ext cx="12191760" cy="6858360"/>
          </a:xfrm>
          <a:custGeom>
            <a:avLst/>
            <a:gdLst/>
            <a:ahLst/>
            <a:rect l="0" t="0" r="r" b="b"/>
            <a:pathLst>
              <a:path w="33866" h="19051">
                <a:moveTo>
                  <a:pt x="0" y="0"/>
                </a:moveTo>
                <a:lnTo>
                  <a:pt x="33866" y="0"/>
                </a:lnTo>
                <a:lnTo>
                  <a:pt x="33866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3369600" y="537480"/>
            <a:ext cx="2419200" cy="68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4400" spc="-1" strike="noStrike">
                <a:solidFill>
                  <a:srgbClr val="000000"/>
                </a:solidFill>
                <a:latin typeface="Calibri"/>
                <a:ea typeface="Calibri"/>
              </a:rPr>
              <a:t>Why now?</a:t>
            </a:r>
            <a:endParaRPr b="0" lang="en-US" sz="4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48640" y="1663200"/>
            <a:ext cx="406080" cy="45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•</a:t>
            </a:r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891720" y="1665360"/>
            <a:ext cx="6973200" cy="497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Calibri"/>
              </a:rPr>
              <a:t>Capacity region roadmap customer install </a:t>
            </a:r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891720" y="2153160"/>
            <a:ext cx="5689800" cy="497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Calibri"/>
              </a:rPr>
              <a:t>efficiency market region roadmap.</a:t>
            </a:r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48640" y="2720160"/>
            <a:ext cx="406080" cy="45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•</a:t>
            </a:r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891720" y="2722320"/>
            <a:ext cx="7373880" cy="497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Calibri"/>
              </a:rPr>
              <a:t>Pilot roadmap market team market forecast </a:t>
            </a:r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891720" y="3210120"/>
            <a:ext cx="3251520" cy="497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Calibri"/>
              </a:rPr>
              <a:t>region deployment.</a:t>
            </a:r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1005840" y="3764160"/>
            <a:ext cx="35532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–</a:t>
            </a:r>
            <a:endParaRPr b="0" lang="en-US" sz="2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1291680" y="3766680"/>
            <a:ext cx="6925680" cy="43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Calibri"/>
              </a:rPr>
              <a:t>Efficiency market budget quarterly pilot growth </a:t>
            </a:r>
            <a:endParaRPr b="0" lang="en-US" sz="2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291680" y="4193640"/>
            <a:ext cx="2404080" cy="43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Calibri"/>
              </a:rPr>
              <a:t>project contract.</a:t>
            </a:r>
            <a:endParaRPr b="0" lang="en-US" sz="2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548640" y="4702320"/>
            <a:ext cx="406080" cy="45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•</a:t>
            </a:r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891720" y="4704480"/>
            <a:ext cx="6796080" cy="497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Calibri"/>
              </a:rPr>
              <a:t>Contract team efficiency forecast energy </a:t>
            </a:r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891720" y="5192280"/>
            <a:ext cx="3903840" cy="497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3200" spc="-1" strike="noStrike">
                <a:solidFill>
                  <a:srgbClr val="000000"/>
                </a:solidFill>
                <a:latin typeface="Calibri"/>
                <a:ea typeface="Calibri"/>
              </a:rPr>
              <a:t>efficiency growth team.</a:t>
            </a:r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1005840" y="5746320"/>
            <a:ext cx="35532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–</a:t>
            </a:r>
            <a:endParaRPr b="0" lang="en-US" sz="2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1291680" y="5748840"/>
            <a:ext cx="6799320" cy="43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Calibri"/>
              </a:rPr>
              <a:t>Forecast pilot customer install market forecast </a:t>
            </a:r>
            <a:endParaRPr b="0" lang="en-US" sz="2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1291680" y="6175800"/>
            <a:ext cx="1794600" cy="43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Calibri"/>
              </a:rPr>
              <a:t>region solar.</a:t>
            </a:r>
            <a:endParaRPr b="0" lang="en-US" sz="2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"/>
          <p:cNvSpPr/>
          <p:nvPr/>
        </p:nvSpPr>
        <p:spPr>
          <a:xfrm>
            <a:off x="0" y="0"/>
            <a:ext cx="12191760" cy="6858000"/>
          </a:xfrm>
          <a:custGeom>
            <a:avLst/>
            <a:gdLst/>
            <a:ahLst/>
            <a:rect l="0" t="0" r="r" b="b"/>
            <a:pathLst>
              <a:path w="33866" h="19050">
                <a:moveTo>
                  <a:pt x="0" y="0"/>
                </a:moveTo>
                <a:lnTo>
                  <a:pt x="33866" y="0"/>
                </a:lnTo>
                <a:lnTo>
                  <a:pt x="33866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0" y="0"/>
            <a:ext cx="12191760" cy="6858360"/>
          </a:xfrm>
          <a:custGeom>
            <a:avLst/>
            <a:gdLst/>
            <a:ahLst/>
            <a:rect l="0" t="0" r="r" b="b"/>
            <a:pathLst>
              <a:path w="33866" h="19051">
                <a:moveTo>
                  <a:pt x="0" y="0"/>
                </a:moveTo>
                <a:lnTo>
                  <a:pt x="33866" y="0"/>
                </a:lnTo>
                <a:lnTo>
                  <a:pt x="33866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 flipH="1">
            <a:off x="1301760" y="5755320"/>
            <a:ext cx="6150240" cy="0"/>
          </a:xfrm>
          <a:prstGeom prst="line">
            <a:avLst/>
          </a:prstGeom>
          <a:ln w="9000">
            <a:solidFill>
              <a:srgbClr val="8787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 flipH="1">
            <a:off x="1301760" y="5175360"/>
            <a:ext cx="6150240" cy="0"/>
          </a:xfrm>
          <a:prstGeom prst="line">
            <a:avLst/>
          </a:prstGeom>
          <a:ln w="9000">
            <a:solidFill>
              <a:srgbClr val="8787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 flipH="1">
            <a:off x="1301760" y="4595760"/>
            <a:ext cx="6150240" cy="0"/>
          </a:xfrm>
          <a:prstGeom prst="line">
            <a:avLst/>
          </a:prstGeom>
          <a:ln w="9000">
            <a:solidFill>
              <a:srgbClr val="8787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 flipH="1">
            <a:off x="1301760" y="4015800"/>
            <a:ext cx="6150240" cy="0"/>
          </a:xfrm>
          <a:prstGeom prst="line">
            <a:avLst/>
          </a:prstGeom>
          <a:ln w="9000">
            <a:solidFill>
              <a:srgbClr val="8787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 flipH="1">
            <a:off x="1301760" y="3436200"/>
            <a:ext cx="6150240" cy="0"/>
          </a:xfrm>
          <a:prstGeom prst="line">
            <a:avLst/>
          </a:prstGeom>
          <a:ln w="9000">
            <a:solidFill>
              <a:srgbClr val="8787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 flipH="1">
            <a:off x="1301760" y="2856240"/>
            <a:ext cx="6150240" cy="0"/>
          </a:xfrm>
          <a:prstGeom prst="line">
            <a:avLst/>
          </a:prstGeom>
          <a:ln w="9000">
            <a:solidFill>
              <a:srgbClr val="8787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 flipH="1">
            <a:off x="1301760" y="2276280"/>
            <a:ext cx="6150240" cy="0"/>
          </a:xfrm>
          <a:prstGeom prst="line">
            <a:avLst/>
          </a:prstGeom>
          <a:ln w="9000">
            <a:solidFill>
              <a:srgbClr val="8787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 flipH="1">
            <a:off x="1301760" y="1696320"/>
            <a:ext cx="6150240" cy="0"/>
          </a:xfrm>
          <a:prstGeom prst="line">
            <a:avLst/>
          </a:prstGeom>
          <a:ln w="9000">
            <a:solidFill>
              <a:srgbClr val="8787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 flipV="1">
            <a:off x="1301760" y="5755320"/>
            <a:ext cx="0" cy="54000"/>
          </a:xfrm>
          <a:prstGeom prst="line">
            <a:avLst/>
          </a:prstGeom>
          <a:ln w="9000">
            <a:solidFill>
              <a:srgbClr val="8787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 flipV="1">
            <a:off x="2839680" y="5755320"/>
            <a:ext cx="0" cy="54000"/>
          </a:xfrm>
          <a:prstGeom prst="line">
            <a:avLst/>
          </a:prstGeom>
          <a:ln w="9000">
            <a:solidFill>
              <a:srgbClr val="8787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 flipV="1">
            <a:off x="4376520" y="5755320"/>
            <a:ext cx="0" cy="54000"/>
          </a:xfrm>
          <a:prstGeom prst="line">
            <a:avLst/>
          </a:prstGeom>
          <a:ln w="9000">
            <a:solidFill>
              <a:srgbClr val="8787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 flipV="1">
            <a:off x="5914440" y="5755320"/>
            <a:ext cx="0" cy="54000"/>
          </a:xfrm>
          <a:prstGeom prst="line">
            <a:avLst/>
          </a:prstGeom>
          <a:ln w="9000">
            <a:solidFill>
              <a:srgbClr val="8787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 flipV="1">
            <a:off x="7452000" y="5755320"/>
            <a:ext cx="0" cy="54000"/>
          </a:xfrm>
          <a:prstGeom prst="line">
            <a:avLst/>
          </a:prstGeom>
          <a:ln w="9000">
            <a:solidFill>
              <a:srgbClr val="8787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1301760" y="5755320"/>
            <a:ext cx="6150240" cy="0"/>
          </a:xfrm>
          <a:prstGeom prst="line">
            <a:avLst/>
          </a:prstGeom>
          <a:ln w="9000">
            <a:solidFill>
              <a:srgbClr val="8787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1247760" y="5755320"/>
            <a:ext cx="54000" cy="0"/>
          </a:xfrm>
          <a:prstGeom prst="line">
            <a:avLst/>
          </a:prstGeom>
          <a:ln w="9000">
            <a:solidFill>
              <a:srgbClr val="8787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1247760" y="5175360"/>
            <a:ext cx="54000" cy="0"/>
          </a:xfrm>
          <a:prstGeom prst="line">
            <a:avLst/>
          </a:prstGeom>
          <a:ln w="9000">
            <a:solidFill>
              <a:srgbClr val="8787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1247760" y="4595760"/>
            <a:ext cx="54000" cy="0"/>
          </a:xfrm>
          <a:prstGeom prst="line">
            <a:avLst/>
          </a:prstGeom>
          <a:ln w="9000">
            <a:solidFill>
              <a:srgbClr val="8787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1247760" y="4015800"/>
            <a:ext cx="54000" cy="0"/>
          </a:xfrm>
          <a:prstGeom prst="line">
            <a:avLst/>
          </a:prstGeom>
          <a:ln w="9000">
            <a:solidFill>
              <a:srgbClr val="8787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1247760" y="3436200"/>
            <a:ext cx="54000" cy="0"/>
          </a:xfrm>
          <a:prstGeom prst="line">
            <a:avLst/>
          </a:prstGeom>
          <a:ln w="9000">
            <a:solidFill>
              <a:srgbClr val="8787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1247760" y="2856240"/>
            <a:ext cx="54000" cy="0"/>
          </a:xfrm>
          <a:prstGeom prst="line">
            <a:avLst/>
          </a:prstGeom>
          <a:ln w="9000">
            <a:solidFill>
              <a:srgbClr val="8787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1247760" y="2276280"/>
            <a:ext cx="54000" cy="0"/>
          </a:xfrm>
          <a:prstGeom prst="line">
            <a:avLst/>
          </a:prstGeom>
          <a:ln w="9000">
            <a:solidFill>
              <a:srgbClr val="8787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1247760" y="1696320"/>
            <a:ext cx="54000" cy="0"/>
          </a:xfrm>
          <a:prstGeom prst="line">
            <a:avLst/>
          </a:prstGeom>
          <a:ln w="9000">
            <a:solidFill>
              <a:srgbClr val="8787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 flipV="1">
            <a:off x="1301760" y="1696320"/>
            <a:ext cx="0" cy="4059000"/>
          </a:xfrm>
          <a:prstGeom prst="line">
            <a:avLst/>
          </a:prstGeom>
          <a:ln w="9000">
            <a:solidFill>
              <a:srgbClr val="8787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1631160" y="4102200"/>
            <a:ext cx="439920" cy="1653480"/>
          </a:xfrm>
          <a:custGeom>
            <a:avLst/>
            <a:gdLst/>
            <a:ahLst/>
            <a:rect l="0" t="0" r="r" b="b"/>
            <a:pathLst>
              <a:path w="1222" h="4593">
                <a:moveTo>
                  <a:pt x="0" y="4593"/>
                </a:moveTo>
                <a:lnTo>
                  <a:pt x="1222" y="4593"/>
                </a:lnTo>
                <a:lnTo>
                  <a:pt x="1222" y="0"/>
                </a:lnTo>
                <a:lnTo>
                  <a:pt x="0" y="0"/>
                </a:lnTo>
                <a:lnTo>
                  <a:pt x="0" y="4593"/>
                </a:lnTo>
                <a:close/>
              </a:path>
            </a:pathLst>
          </a:custGeom>
          <a:solidFill>
            <a:srgbClr val="4f81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3169080" y="4392360"/>
            <a:ext cx="439560" cy="1363320"/>
          </a:xfrm>
          <a:custGeom>
            <a:avLst/>
            <a:gdLst/>
            <a:ahLst/>
            <a:rect l="0" t="0" r="r" b="b"/>
            <a:pathLst>
              <a:path w="1221" h="3787">
                <a:moveTo>
                  <a:pt x="0" y="3787"/>
                </a:moveTo>
                <a:lnTo>
                  <a:pt x="1221" y="3787"/>
                </a:lnTo>
                <a:lnTo>
                  <a:pt x="1221" y="0"/>
                </a:lnTo>
                <a:lnTo>
                  <a:pt x="0" y="0"/>
                </a:lnTo>
                <a:lnTo>
                  <a:pt x="0" y="3787"/>
                </a:lnTo>
                <a:close/>
              </a:path>
            </a:pathLst>
          </a:custGeom>
          <a:solidFill>
            <a:srgbClr val="4f81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4705920" y="5436360"/>
            <a:ext cx="439920" cy="319320"/>
          </a:xfrm>
          <a:custGeom>
            <a:avLst/>
            <a:gdLst/>
            <a:ahLst/>
            <a:rect l="0" t="0" r="r" b="b"/>
            <a:pathLst>
              <a:path w="1222" h="887">
                <a:moveTo>
                  <a:pt x="0" y="887"/>
                </a:moveTo>
                <a:lnTo>
                  <a:pt x="1222" y="887"/>
                </a:lnTo>
                <a:lnTo>
                  <a:pt x="1222" y="0"/>
                </a:lnTo>
                <a:lnTo>
                  <a:pt x="0" y="0"/>
                </a:lnTo>
                <a:lnTo>
                  <a:pt x="0" y="887"/>
                </a:lnTo>
                <a:close/>
              </a:path>
            </a:pathLst>
          </a:custGeom>
          <a:solidFill>
            <a:srgbClr val="4f81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6243840" y="4827600"/>
            <a:ext cx="439560" cy="928080"/>
          </a:xfrm>
          <a:custGeom>
            <a:avLst/>
            <a:gdLst/>
            <a:ahLst/>
            <a:rect l="0" t="0" r="r" b="b"/>
            <a:pathLst>
              <a:path w="1221" h="2578">
                <a:moveTo>
                  <a:pt x="0" y="2578"/>
                </a:moveTo>
                <a:lnTo>
                  <a:pt x="1221" y="2578"/>
                </a:lnTo>
                <a:lnTo>
                  <a:pt x="1221" y="0"/>
                </a:lnTo>
                <a:lnTo>
                  <a:pt x="0" y="0"/>
                </a:lnTo>
                <a:lnTo>
                  <a:pt x="0" y="2578"/>
                </a:lnTo>
                <a:close/>
              </a:path>
            </a:pathLst>
          </a:custGeom>
          <a:solidFill>
            <a:srgbClr val="4f81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2070720" y="2362680"/>
            <a:ext cx="439200" cy="3393000"/>
          </a:xfrm>
          <a:custGeom>
            <a:avLst/>
            <a:gdLst/>
            <a:ahLst/>
            <a:rect l="0" t="0" r="r" b="b"/>
            <a:pathLst>
              <a:path w="1220" h="9425">
                <a:moveTo>
                  <a:pt x="0" y="9425"/>
                </a:moveTo>
                <a:lnTo>
                  <a:pt x="1220" y="9425"/>
                </a:lnTo>
                <a:lnTo>
                  <a:pt x="1220" y="0"/>
                </a:lnTo>
                <a:lnTo>
                  <a:pt x="0" y="0"/>
                </a:lnTo>
                <a:lnTo>
                  <a:pt x="0" y="9425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3608280" y="2681640"/>
            <a:ext cx="439200" cy="3074040"/>
          </a:xfrm>
          <a:custGeom>
            <a:avLst/>
            <a:gdLst/>
            <a:ahLst/>
            <a:rect l="0" t="0" r="r" b="b"/>
            <a:pathLst>
              <a:path w="1220" h="8539">
                <a:moveTo>
                  <a:pt x="0" y="8539"/>
                </a:moveTo>
                <a:lnTo>
                  <a:pt x="1220" y="8539"/>
                </a:lnTo>
                <a:lnTo>
                  <a:pt x="1220" y="0"/>
                </a:lnTo>
                <a:lnTo>
                  <a:pt x="0" y="0"/>
                </a:lnTo>
                <a:lnTo>
                  <a:pt x="0" y="8539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5145480" y="3986640"/>
            <a:ext cx="439560" cy="1769040"/>
          </a:xfrm>
          <a:custGeom>
            <a:avLst/>
            <a:gdLst/>
            <a:ahLst/>
            <a:rect l="0" t="0" r="r" b="b"/>
            <a:pathLst>
              <a:path w="1221" h="4914">
                <a:moveTo>
                  <a:pt x="0" y="4914"/>
                </a:moveTo>
                <a:lnTo>
                  <a:pt x="1221" y="4914"/>
                </a:lnTo>
                <a:lnTo>
                  <a:pt x="1221" y="0"/>
                </a:lnTo>
                <a:lnTo>
                  <a:pt x="0" y="0"/>
                </a:lnTo>
                <a:lnTo>
                  <a:pt x="0" y="4914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6683040" y="2652840"/>
            <a:ext cx="439200" cy="3102840"/>
          </a:xfrm>
          <a:custGeom>
            <a:avLst/>
            <a:gdLst/>
            <a:ahLst/>
            <a:rect l="0" t="0" r="r" b="b"/>
            <a:pathLst>
              <a:path w="1220" h="8619">
                <a:moveTo>
                  <a:pt x="0" y="8619"/>
                </a:moveTo>
                <a:lnTo>
                  <a:pt x="1220" y="8619"/>
                </a:lnTo>
                <a:lnTo>
                  <a:pt x="1220" y="0"/>
                </a:lnTo>
                <a:lnTo>
                  <a:pt x="0" y="0"/>
                </a:lnTo>
                <a:lnTo>
                  <a:pt x="0" y="8619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3659040" y="537480"/>
            <a:ext cx="1872360" cy="68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4400" spc="-1" strike="noStrike">
                <a:solidFill>
                  <a:srgbClr val="000000"/>
                </a:solidFill>
                <a:latin typeface="Calibri"/>
                <a:ea typeface="Calibri"/>
              </a:rPr>
              <a:t>Traction</a:t>
            </a:r>
            <a:endParaRPr b="0" lang="en-US" sz="4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937160" y="5847120"/>
            <a:ext cx="2689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Q1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3474720" y="5847120"/>
            <a:ext cx="2689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Q2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5011920" y="5847120"/>
            <a:ext cx="2689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Q3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6549480" y="5847120"/>
            <a:ext cx="2689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Q4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1097640" y="561888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0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983520" y="503892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20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983520" y="445932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40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983520" y="387936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60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983520" y="32994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80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869040" y="2719440"/>
            <a:ext cx="3481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100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69040" y="2139480"/>
            <a:ext cx="3481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120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71" name="" descr=""/>
          <p:cNvPicPr/>
          <p:nvPr/>
        </p:nvPicPr>
        <p:blipFill>
          <a:blip r:embed="rId1"/>
          <a:stretch/>
        </p:blipFill>
        <p:spPr>
          <a:xfrm>
            <a:off x="8001720" y="1989360"/>
            <a:ext cx="3563640" cy="2283480"/>
          </a:xfrm>
          <a:prstGeom prst="rect">
            <a:avLst/>
          </a:prstGeom>
          <a:ln w="0">
            <a:noFill/>
          </a:ln>
        </p:spPr>
      </p:pic>
      <p:sp>
        <p:nvSpPr>
          <p:cNvPr id="72" name=""/>
          <p:cNvSpPr/>
          <p:nvPr/>
        </p:nvSpPr>
        <p:spPr>
          <a:xfrm>
            <a:off x="8046360" y="2011320"/>
            <a:ext cx="3475080" cy="2195280"/>
          </a:xfrm>
          <a:custGeom>
            <a:avLst/>
            <a:gdLst/>
            <a:ahLst/>
            <a:rect l="0" t="0" r="r" b="b"/>
            <a:pathLst>
              <a:path w="9653" h="6098">
                <a:moveTo>
                  <a:pt x="0" y="1016"/>
                </a:moveTo>
                <a:cubicBezTo>
                  <a:pt x="0" y="838"/>
                  <a:pt x="47" y="661"/>
                  <a:pt x="136" y="508"/>
                </a:cubicBezTo>
                <a:cubicBezTo>
                  <a:pt x="225" y="353"/>
                  <a:pt x="353" y="225"/>
                  <a:pt x="508" y="136"/>
                </a:cubicBezTo>
                <a:cubicBezTo>
                  <a:pt x="661" y="47"/>
                  <a:pt x="838" y="0"/>
                  <a:pt x="1016" y="0"/>
                </a:cubicBezTo>
                <a:lnTo>
                  <a:pt x="8635" y="0"/>
                </a:lnTo>
                <a:cubicBezTo>
                  <a:pt x="8814" y="0"/>
                  <a:pt x="8990" y="47"/>
                  <a:pt x="9143" y="136"/>
                </a:cubicBezTo>
                <a:cubicBezTo>
                  <a:pt x="9298" y="225"/>
                  <a:pt x="9426" y="353"/>
                  <a:pt x="9515" y="508"/>
                </a:cubicBezTo>
                <a:cubicBezTo>
                  <a:pt x="9604" y="661"/>
                  <a:pt x="9651" y="838"/>
                  <a:pt x="9651" y="1016"/>
                </a:cubicBezTo>
                <a:lnTo>
                  <a:pt x="9653" y="5079"/>
                </a:lnTo>
                <a:cubicBezTo>
                  <a:pt x="9653" y="5259"/>
                  <a:pt x="9605" y="5435"/>
                  <a:pt x="9517" y="5588"/>
                </a:cubicBezTo>
                <a:cubicBezTo>
                  <a:pt x="9428" y="5743"/>
                  <a:pt x="9298" y="5871"/>
                  <a:pt x="9145" y="5960"/>
                </a:cubicBezTo>
                <a:cubicBezTo>
                  <a:pt x="8990" y="6049"/>
                  <a:pt x="8814" y="6096"/>
                  <a:pt x="8637" y="6096"/>
                </a:cubicBezTo>
                <a:lnTo>
                  <a:pt x="1016" y="6098"/>
                </a:lnTo>
                <a:cubicBezTo>
                  <a:pt x="838" y="6098"/>
                  <a:pt x="661" y="6050"/>
                  <a:pt x="508" y="5962"/>
                </a:cubicBezTo>
                <a:cubicBezTo>
                  <a:pt x="353" y="5873"/>
                  <a:pt x="225" y="5743"/>
                  <a:pt x="136" y="5590"/>
                </a:cubicBezTo>
                <a:cubicBezTo>
                  <a:pt x="47" y="5435"/>
                  <a:pt x="0" y="5259"/>
                  <a:pt x="0" y="5082"/>
                </a:cubicBezTo>
                <a:lnTo>
                  <a:pt x="0" y="1016"/>
                </a:lnTo>
                <a:close/>
              </a:path>
            </a:pathLst>
          </a:custGeom>
          <a:solidFill>
            <a:srgbClr val="e5322d"/>
          </a:solidFill>
          <a:ln w="9000">
            <a:solidFill>
              <a:srgbClr val="4a7ebb"/>
            </a:solidFill>
            <a:round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869040" y="1559520"/>
            <a:ext cx="3481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140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8243280" y="2828160"/>
            <a:ext cx="2309760" cy="619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4000" spc="-1" strike="noStrike">
                <a:solidFill>
                  <a:srgbClr val="ffffff"/>
                </a:solidFill>
                <a:latin typeface="Calibri"/>
                <a:ea typeface="Calibri"/>
              </a:rPr>
              <a:t>+151% YoY</a:t>
            </a:r>
            <a:endParaRPr b="0" lang="en-US" sz="4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"/>
          <p:cNvSpPr/>
          <p:nvPr/>
        </p:nvSpPr>
        <p:spPr>
          <a:xfrm>
            <a:off x="0" y="0"/>
            <a:ext cx="12191760" cy="6858000"/>
          </a:xfrm>
          <a:custGeom>
            <a:avLst/>
            <a:gdLst/>
            <a:ahLst/>
            <a:rect l="0" t="0" r="r" b="b"/>
            <a:pathLst>
              <a:path w="33866" h="19050">
                <a:moveTo>
                  <a:pt x="0" y="0"/>
                </a:moveTo>
                <a:lnTo>
                  <a:pt x="33866" y="0"/>
                </a:lnTo>
                <a:lnTo>
                  <a:pt x="33866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0" y="0"/>
            <a:ext cx="12191760" cy="6858360"/>
          </a:xfrm>
          <a:custGeom>
            <a:avLst/>
            <a:gdLst/>
            <a:ahLst/>
            <a:rect l="0" t="0" r="r" b="b"/>
            <a:pathLst>
              <a:path w="33866" h="19051">
                <a:moveTo>
                  <a:pt x="0" y="0"/>
                </a:moveTo>
                <a:lnTo>
                  <a:pt x="33866" y="0"/>
                </a:lnTo>
                <a:lnTo>
                  <a:pt x="33866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731520" y="1554480"/>
            <a:ext cx="3505320" cy="640440"/>
          </a:xfrm>
          <a:custGeom>
            <a:avLst/>
            <a:gdLst/>
            <a:ahLst/>
            <a:rect l="0" t="0" r="r" b="b"/>
            <a:pathLst>
              <a:path w="9737" h="1779">
                <a:moveTo>
                  <a:pt x="0" y="0"/>
                </a:moveTo>
                <a:lnTo>
                  <a:pt x="9737" y="0"/>
                </a:lnTo>
                <a:lnTo>
                  <a:pt x="9737" y="1779"/>
                </a:lnTo>
                <a:lnTo>
                  <a:pt x="0" y="1779"/>
                </a:lnTo>
                <a:lnTo>
                  <a:pt x="0" y="0"/>
                </a:lnTo>
                <a:close/>
              </a:path>
            </a:pathLst>
          </a:custGeom>
          <a:solidFill>
            <a:srgbClr val="4f81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3964680" y="537480"/>
            <a:ext cx="1265760" cy="68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4400" spc="-1" strike="noStrike">
                <a:solidFill>
                  <a:srgbClr val="000000"/>
                </a:solidFill>
                <a:latin typeface="Calibri"/>
                <a:ea typeface="Calibri"/>
              </a:rPr>
              <a:t>Team</a:t>
            </a:r>
            <a:endParaRPr b="0" lang="en-US" sz="4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4236120" y="1554480"/>
            <a:ext cx="3505320" cy="640440"/>
          </a:xfrm>
          <a:custGeom>
            <a:avLst/>
            <a:gdLst/>
            <a:ahLst/>
            <a:rect l="0" t="0" r="r" b="b"/>
            <a:pathLst>
              <a:path w="9737" h="1779">
                <a:moveTo>
                  <a:pt x="0" y="0"/>
                </a:moveTo>
                <a:lnTo>
                  <a:pt x="9737" y="0"/>
                </a:lnTo>
                <a:lnTo>
                  <a:pt x="9737" y="1779"/>
                </a:lnTo>
                <a:lnTo>
                  <a:pt x="0" y="1779"/>
                </a:lnTo>
                <a:lnTo>
                  <a:pt x="0" y="0"/>
                </a:lnTo>
                <a:close/>
              </a:path>
            </a:pathLst>
          </a:custGeom>
          <a:solidFill>
            <a:srgbClr val="4f81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822960" y="1600200"/>
            <a:ext cx="5540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Name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7741080" y="1554480"/>
            <a:ext cx="3505320" cy="640440"/>
          </a:xfrm>
          <a:custGeom>
            <a:avLst/>
            <a:gdLst/>
            <a:ahLst/>
            <a:rect l="0" t="0" r="r" b="b"/>
            <a:pathLst>
              <a:path w="9737" h="1779">
                <a:moveTo>
                  <a:pt x="0" y="0"/>
                </a:moveTo>
                <a:lnTo>
                  <a:pt x="9737" y="0"/>
                </a:lnTo>
                <a:lnTo>
                  <a:pt x="9737" y="1779"/>
                </a:lnTo>
                <a:lnTo>
                  <a:pt x="0" y="1779"/>
                </a:lnTo>
                <a:lnTo>
                  <a:pt x="0" y="0"/>
                </a:lnTo>
                <a:close/>
              </a:path>
            </a:pathLst>
          </a:custGeom>
          <a:solidFill>
            <a:srgbClr val="4f81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4327920" y="1600200"/>
            <a:ext cx="4107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Role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731520" y="2194560"/>
            <a:ext cx="3505320" cy="640800"/>
          </a:xfrm>
          <a:custGeom>
            <a:avLst/>
            <a:gdLst/>
            <a:ahLst/>
            <a:rect l="0" t="0" r="r" b="b"/>
            <a:pathLst>
              <a:path w="9737" h="1780">
                <a:moveTo>
                  <a:pt x="0" y="0"/>
                </a:moveTo>
                <a:lnTo>
                  <a:pt x="9737" y="0"/>
                </a:lnTo>
                <a:lnTo>
                  <a:pt x="9737" y="1780"/>
                </a:lnTo>
                <a:lnTo>
                  <a:pt x="0" y="1780"/>
                </a:lnTo>
                <a:lnTo>
                  <a:pt x="0" y="0"/>
                </a:lnTo>
                <a:close/>
              </a:path>
            </a:pathLst>
          </a:custGeom>
          <a:solidFill>
            <a:srgbClr val="d0d8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7832880" y="1600200"/>
            <a:ext cx="9532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Previously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4236120" y="2194560"/>
            <a:ext cx="3505320" cy="640800"/>
          </a:xfrm>
          <a:custGeom>
            <a:avLst/>
            <a:gdLst/>
            <a:ahLst/>
            <a:rect l="0" t="0" r="r" b="b"/>
            <a:pathLst>
              <a:path w="9737" h="1780">
                <a:moveTo>
                  <a:pt x="0" y="0"/>
                </a:moveTo>
                <a:lnTo>
                  <a:pt x="9737" y="0"/>
                </a:lnTo>
                <a:lnTo>
                  <a:pt x="9737" y="1780"/>
                </a:lnTo>
                <a:lnTo>
                  <a:pt x="0" y="1780"/>
                </a:lnTo>
                <a:lnTo>
                  <a:pt x="0" y="0"/>
                </a:lnTo>
                <a:close/>
              </a:path>
            </a:pathLst>
          </a:custGeom>
          <a:solidFill>
            <a:srgbClr val="d0d8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822960" y="2240280"/>
            <a:ext cx="1200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Hiro Schmidt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7741080" y="2194560"/>
            <a:ext cx="3505320" cy="640800"/>
          </a:xfrm>
          <a:custGeom>
            <a:avLst/>
            <a:gdLst/>
            <a:ahLst/>
            <a:rect l="0" t="0" r="r" b="b"/>
            <a:pathLst>
              <a:path w="9737" h="1780">
                <a:moveTo>
                  <a:pt x="0" y="0"/>
                </a:moveTo>
                <a:lnTo>
                  <a:pt x="9737" y="0"/>
                </a:lnTo>
                <a:lnTo>
                  <a:pt x="9737" y="1780"/>
                </a:lnTo>
                <a:lnTo>
                  <a:pt x="0" y="1780"/>
                </a:lnTo>
                <a:lnTo>
                  <a:pt x="0" y="0"/>
                </a:lnTo>
                <a:close/>
              </a:path>
            </a:pathLst>
          </a:custGeom>
          <a:solidFill>
            <a:srgbClr val="d0d8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4327920" y="2240280"/>
            <a:ext cx="4244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COO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731520" y="2834640"/>
            <a:ext cx="3505320" cy="640800"/>
          </a:xfrm>
          <a:custGeom>
            <a:avLst/>
            <a:gdLst/>
            <a:ahLst/>
            <a:rect l="0" t="0" r="r" b="b"/>
            <a:pathLst>
              <a:path w="9737" h="1780">
                <a:moveTo>
                  <a:pt x="0" y="0"/>
                </a:moveTo>
                <a:lnTo>
                  <a:pt x="9737" y="0"/>
                </a:lnTo>
                <a:lnTo>
                  <a:pt x="9737" y="1780"/>
                </a:lnTo>
                <a:lnTo>
                  <a:pt x="0" y="1780"/>
                </a:lnTo>
                <a:lnTo>
                  <a:pt x="0" y="0"/>
                </a:lnTo>
                <a:close/>
              </a:path>
            </a:pathLst>
          </a:custGeom>
          <a:solidFill>
            <a:srgbClr val="e9ec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832880" y="2240280"/>
            <a:ext cx="14835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Startup founder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4236120" y="2834640"/>
            <a:ext cx="3505320" cy="640800"/>
          </a:xfrm>
          <a:custGeom>
            <a:avLst/>
            <a:gdLst/>
            <a:ahLst/>
            <a:rect l="0" t="0" r="r" b="b"/>
            <a:pathLst>
              <a:path w="9737" h="1780">
                <a:moveTo>
                  <a:pt x="0" y="0"/>
                </a:moveTo>
                <a:lnTo>
                  <a:pt x="9737" y="0"/>
                </a:lnTo>
                <a:lnTo>
                  <a:pt x="9737" y="1780"/>
                </a:lnTo>
                <a:lnTo>
                  <a:pt x="0" y="1780"/>
                </a:lnTo>
                <a:lnTo>
                  <a:pt x="0" y="0"/>
                </a:lnTo>
                <a:close/>
              </a:path>
            </a:pathLst>
          </a:custGeom>
          <a:solidFill>
            <a:srgbClr val="e9ec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822960" y="2880360"/>
            <a:ext cx="12139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Noah Tanaka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7741080" y="2834640"/>
            <a:ext cx="3505320" cy="640800"/>
          </a:xfrm>
          <a:custGeom>
            <a:avLst/>
            <a:gdLst/>
            <a:ahLst/>
            <a:rect l="0" t="0" r="r" b="b"/>
            <a:pathLst>
              <a:path w="9737" h="1780">
                <a:moveTo>
                  <a:pt x="0" y="0"/>
                </a:moveTo>
                <a:lnTo>
                  <a:pt x="9737" y="0"/>
                </a:lnTo>
                <a:lnTo>
                  <a:pt x="9737" y="1780"/>
                </a:lnTo>
                <a:lnTo>
                  <a:pt x="0" y="1780"/>
                </a:lnTo>
                <a:lnTo>
                  <a:pt x="0" y="0"/>
                </a:lnTo>
                <a:close/>
              </a:path>
            </a:pathLst>
          </a:custGeom>
          <a:solidFill>
            <a:srgbClr val="e9ec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4327920" y="2880360"/>
            <a:ext cx="4244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COO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731520" y="3474720"/>
            <a:ext cx="3505320" cy="640440"/>
          </a:xfrm>
          <a:custGeom>
            <a:avLst/>
            <a:gdLst/>
            <a:ahLst/>
            <a:rect l="0" t="0" r="r" b="b"/>
            <a:pathLst>
              <a:path w="9737" h="1779">
                <a:moveTo>
                  <a:pt x="0" y="0"/>
                </a:moveTo>
                <a:lnTo>
                  <a:pt x="9737" y="0"/>
                </a:lnTo>
                <a:lnTo>
                  <a:pt x="9737" y="1779"/>
                </a:lnTo>
                <a:lnTo>
                  <a:pt x="0" y="1779"/>
                </a:lnTo>
                <a:lnTo>
                  <a:pt x="0" y="0"/>
                </a:lnTo>
                <a:close/>
              </a:path>
            </a:pathLst>
          </a:custGeom>
          <a:solidFill>
            <a:srgbClr val="d0d8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7832880" y="2880360"/>
            <a:ext cx="7840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Enphase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4236120" y="3474720"/>
            <a:ext cx="3505320" cy="640440"/>
          </a:xfrm>
          <a:custGeom>
            <a:avLst/>
            <a:gdLst/>
            <a:ahLst/>
            <a:rect l="0" t="0" r="r" b="b"/>
            <a:pathLst>
              <a:path w="9737" h="1779">
                <a:moveTo>
                  <a:pt x="0" y="0"/>
                </a:moveTo>
                <a:lnTo>
                  <a:pt x="9737" y="0"/>
                </a:lnTo>
                <a:lnTo>
                  <a:pt x="9737" y="1779"/>
                </a:lnTo>
                <a:lnTo>
                  <a:pt x="0" y="1779"/>
                </a:lnTo>
                <a:lnTo>
                  <a:pt x="0" y="0"/>
                </a:lnTo>
                <a:close/>
              </a:path>
            </a:pathLst>
          </a:custGeom>
          <a:solidFill>
            <a:srgbClr val="d0d8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822960" y="3520440"/>
            <a:ext cx="12153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Chloé Okafor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7741080" y="3474720"/>
            <a:ext cx="3505320" cy="640440"/>
          </a:xfrm>
          <a:custGeom>
            <a:avLst/>
            <a:gdLst/>
            <a:ahLst/>
            <a:rect l="0" t="0" r="r" b="b"/>
            <a:pathLst>
              <a:path w="9737" h="1779">
                <a:moveTo>
                  <a:pt x="0" y="0"/>
                </a:moveTo>
                <a:lnTo>
                  <a:pt x="9737" y="0"/>
                </a:lnTo>
                <a:lnTo>
                  <a:pt x="9737" y="1779"/>
                </a:lnTo>
                <a:lnTo>
                  <a:pt x="0" y="1779"/>
                </a:lnTo>
                <a:lnTo>
                  <a:pt x="0" y="0"/>
                </a:lnTo>
                <a:close/>
              </a:path>
            </a:pathLst>
          </a:custGeom>
          <a:solidFill>
            <a:srgbClr val="d0d8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4327920" y="3520440"/>
            <a:ext cx="3848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CTO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731520" y="4114800"/>
            <a:ext cx="3505320" cy="640800"/>
          </a:xfrm>
          <a:custGeom>
            <a:avLst/>
            <a:gdLst/>
            <a:ahLst/>
            <a:rect l="0" t="0" r="r" b="b"/>
            <a:pathLst>
              <a:path w="9737" h="1780">
                <a:moveTo>
                  <a:pt x="0" y="0"/>
                </a:moveTo>
                <a:lnTo>
                  <a:pt x="9737" y="0"/>
                </a:lnTo>
                <a:lnTo>
                  <a:pt x="9737" y="1780"/>
                </a:lnTo>
                <a:lnTo>
                  <a:pt x="0" y="1780"/>
                </a:lnTo>
                <a:lnTo>
                  <a:pt x="0" y="0"/>
                </a:lnTo>
                <a:close/>
              </a:path>
            </a:pathLst>
          </a:custGeom>
          <a:solidFill>
            <a:srgbClr val="e9ec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832880" y="3520440"/>
            <a:ext cx="7840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Enphase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4236120" y="4114800"/>
            <a:ext cx="3505320" cy="640800"/>
          </a:xfrm>
          <a:custGeom>
            <a:avLst/>
            <a:gdLst/>
            <a:ahLst/>
            <a:rect l="0" t="0" r="r" b="b"/>
            <a:pathLst>
              <a:path w="9737" h="1780">
                <a:moveTo>
                  <a:pt x="0" y="0"/>
                </a:moveTo>
                <a:lnTo>
                  <a:pt x="9737" y="0"/>
                </a:lnTo>
                <a:lnTo>
                  <a:pt x="9737" y="1780"/>
                </a:lnTo>
                <a:lnTo>
                  <a:pt x="0" y="1780"/>
                </a:lnTo>
                <a:lnTo>
                  <a:pt x="0" y="0"/>
                </a:lnTo>
                <a:close/>
              </a:path>
            </a:pathLst>
          </a:custGeom>
          <a:solidFill>
            <a:srgbClr val="e9ec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822960" y="4160520"/>
            <a:ext cx="1212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Chloé Martin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7741080" y="4114800"/>
            <a:ext cx="3505320" cy="640800"/>
          </a:xfrm>
          <a:custGeom>
            <a:avLst/>
            <a:gdLst/>
            <a:ahLst/>
            <a:rect l="0" t="0" r="r" b="b"/>
            <a:pathLst>
              <a:path w="9737" h="1780">
                <a:moveTo>
                  <a:pt x="0" y="0"/>
                </a:moveTo>
                <a:lnTo>
                  <a:pt x="9737" y="0"/>
                </a:lnTo>
                <a:lnTo>
                  <a:pt x="9737" y="1780"/>
                </a:lnTo>
                <a:lnTo>
                  <a:pt x="0" y="1780"/>
                </a:lnTo>
                <a:lnTo>
                  <a:pt x="0" y="0"/>
                </a:lnTo>
                <a:close/>
              </a:path>
            </a:pathLst>
          </a:custGeom>
          <a:solidFill>
            <a:srgbClr val="e9ec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4327920" y="4160520"/>
            <a:ext cx="4244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COO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726120" y="1554480"/>
            <a:ext cx="10525680" cy="0"/>
          </a:xfrm>
          <a:prstGeom prst="line">
            <a:avLst/>
          </a:prstGeom>
          <a:ln w="10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731520" y="1549080"/>
            <a:ext cx="0" cy="3210840"/>
          </a:xfrm>
          <a:prstGeom prst="line">
            <a:avLst/>
          </a:prstGeom>
          <a:ln w="10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4236120" y="1549080"/>
            <a:ext cx="0" cy="3210840"/>
          </a:xfrm>
          <a:prstGeom prst="line">
            <a:avLst/>
          </a:prstGeom>
          <a:ln w="10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7741080" y="1549080"/>
            <a:ext cx="0" cy="3210840"/>
          </a:xfrm>
          <a:prstGeom prst="line">
            <a:avLst/>
          </a:prstGeom>
          <a:ln w="10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11246040" y="1549080"/>
            <a:ext cx="0" cy="3210840"/>
          </a:xfrm>
          <a:prstGeom prst="line">
            <a:avLst/>
          </a:prstGeom>
          <a:ln w="10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726120" y="2194560"/>
            <a:ext cx="10525680" cy="0"/>
          </a:xfrm>
          <a:prstGeom prst="line">
            <a:avLst/>
          </a:prstGeom>
          <a:ln w="10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726120" y="2834640"/>
            <a:ext cx="10525680" cy="0"/>
          </a:xfrm>
          <a:prstGeom prst="line">
            <a:avLst/>
          </a:prstGeom>
          <a:ln w="10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726120" y="3474720"/>
            <a:ext cx="10525680" cy="0"/>
          </a:xfrm>
          <a:prstGeom prst="line">
            <a:avLst/>
          </a:prstGeom>
          <a:ln w="10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726120" y="4114800"/>
            <a:ext cx="10525680" cy="0"/>
          </a:xfrm>
          <a:prstGeom prst="line">
            <a:avLst/>
          </a:prstGeom>
          <a:ln w="10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726120" y="4754880"/>
            <a:ext cx="10525680" cy="0"/>
          </a:xfrm>
          <a:prstGeom prst="line">
            <a:avLst/>
          </a:prstGeom>
          <a:ln w="10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7832880" y="4160520"/>
            <a:ext cx="357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EDF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"/>
          <p:cNvSpPr/>
          <p:nvPr/>
        </p:nvSpPr>
        <p:spPr>
          <a:xfrm>
            <a:off x="0" y="0"/>
            <a:ext cx="12191760" cy="6858000"/>
          </a:xfrm>
          <a:custGeom>
            <a:avLst/>
            <a:gdLst/>
            <a:ahLst/>
            <a:rect l="0" t="0" r="r" b="b"/>
            <a:pathLst>
              <a:path w="33866" h="19050">
                <a:moveTo>
                  <a:pt x="0" y="0"/>
                </a:moveTo>
                <a:lnTo>
                  <a:pt x="33866" y="0"/>
                </a:lnTo>
                <a:lnTo>
                  <a:pt x="33866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0" y="0"/>
            <a:ext cx="12191760" cy="6858360"/>
          </a:xfrm>
          <a:custGeom>
            <a:avLst/>
            <a:gdLst/>
            <a:ahLst/>
            <a:rect l="0" t="0" r="r" b="b"/>
            <a:pathLst>
              <a:path w="33866" h="19051">
                <a:moveTo>
                  <a:pt x="0" y="0"/>
                </a:moveTo>
                <a:lnTo>
                  <a:pt x="33866" y="0"/>
                </a:lnTo>
                <a:lnTo>
                  <a:pt x="33866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20" name="" descr=""/>
          <p:cNvPicPr/>
          <p:nvPr/>
        </p:nvPicPr>
        <p:blipFill>
          <a:blip r:embed="rId1"/>
          <a:stretch/>
        </p:blipFill>
        <p:spPr>
          <a:xfrm>
            <a:off x="1371600" y="731160"/>
            <a:ext cx="9143280" cy="4266360"/>
          </a:xfrm>
          <a:prstGeom prst="rect">
            <a:avLst/>
          </a:prstGeom>
          <a:ln w="0">
            <a:noFill/>
          </a:ln>
        </p:spPr>
      </p:pic>
      <p:sp>
        <p:nvSpPr>
          <p:cNvPr id="121" name=""/>
          <p:cNvSpPr txBox="1"/>
          <p:nvPr/>
        </p:nvSpPr>
        <p:spPr>
          <a:xfrm>
            <a:off x="4250160" y="5730840"/>
            <a:ext cx="3393000" cy="43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Calibri"/>
              </a:rPr>
              <a:t>Thank you – questions?</a:t>
            </a:r>
            <a:endParaRPr b="0" lang="en-US" sz="2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